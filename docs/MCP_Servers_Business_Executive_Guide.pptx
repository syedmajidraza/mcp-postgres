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946a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0"/>
            <a:ext cx="3048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74633" y="1602135"/>
            <a:ext cx="359473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50"/>
              </a:lnSpc>
              <a:spcAft>
                <a:spcPts val="1200"/>
              </a:spcAft>
              <a:buNone/>
            </a:pPr>
            <a:r>
              <a:rPr lang="en-US" sz="4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1934242" y="2383185"/>
            <a:ext cx="52755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AI to Your Enterprise Data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851660" y="2954685"/>
            <a:ext cx="544068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executive's guide to Model Context Protocol and its strategic value for database integration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81000" y="4762500"/>
            <a:ext cx="854964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428625"/>
            <a:ext cx="0" cy="6096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657225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756023"/>
            <a:ext cx="5943600" cy="772418"/>
          </a:xfrm>
          <a:prstGeom prst="roundRect">
            <a:avLst>
              <a:gd name="adj" fmla="val 4933"/>
            </a:avLst>
          </a:prstGeom>
          <a:solidFill>
            <a:srgbClr val="FEF5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756023"/>
            <a:ext cx="0" cy="772418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908423"/>
            <a:ext cx="571271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Silos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2190304"/>
            <a:ext cx="571271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business data locked in databases that AI cannot access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661791"/>
            <a:ext cx="5943600" cy="772418"/>
          </a:xfrm>
          <a:prstGeom prst="roundRect">
            <a:avLst>
              <a:gd name="adj" fmla="val 4933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661791"/>
            <a:ext cx="0" cy="772418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814191"/>
            <a:ext cx="571271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1500" y="3096071"/>
            <a:ext cx="571271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B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copy-paste data, creating delays and errors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3567559"/>
            <a:ext cx="5943600" cy="772418"/>
          </a:xfrm>
          <a:prstGeom prst="roundRect">
            <a:avLst>
              <a:gd name="adj" fmla="val 493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3567559"/>
            <a:ext cx="0" cy="772418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" y="3719959"/>
            <a:ext cx="571271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Concerns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71500" y="4001839"/>
            <a:ext cx="571271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 way to give AI controlled access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477000" y="1480393"/>
            <a:ext cx="2286000" cy="3135213"/>
          </a:xfrm>
          <a:prstGeom prst="roundRect">
            <a:avLst>
              <a:gd name="adj" fmla="val 3333"/>
            </a:avLst>
          </a:prstGeom>
          <a:solidFill>
            <a:srgbClr val="1A4D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67500" y="1670893"/>
            <a:ext cx="194310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67500" y="2028974"/>
            <a:ext cx="1943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450"/>
              </a:spcAft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667500" y="2429024"/>
            <a:ext cx="194310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work time spent searching for information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67500" y="2878485"/>
            <a:ext cx="1943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450"/>
              </a:spcAft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3hrs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667500" y="3278535"/>
            <a:ext cx="194310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delay getting answers from data teams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67500" y="3727996"/>
            <a:ext cx="1943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450"/>
              </a:spcAft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667500" y="4128046"/>
            <a:ext cx="194310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opportunities from slow insights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1000" y="4762500"/>
            <a:ext cx="854964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proper integration, AI remains disconnected from your most valuable assets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400050"/>
            <a:ext cx="0" cy="5715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628650"/>
            <a:ext cx="62567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Model Context Protocol</a:t>
            </a:r>
            <a:endParaRPr lang="en-US" sz="2700" dirty="0"/>
          </a:p>
        </p:txBody>
      </p:sp>
      <p:pic>
        <p:nvPicPr>
          <p:cNvPr id="4" name="Image 0" descr="/tmp/rasterized-gradient-27b4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272629"/>
            <a:ext cx="8382000" cy="11376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1463129"/>
            <a:ext cx="409022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MCP?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71500" y="1791146"/>
            <a:ext cx="81610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universal standard that allows AI assistants to securely connect to any data source. Think of it as creating secure bridges between AI and your enterprise systems.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81000" y="2649289"/>
            <a:ext cx="2692450" cy="1443633"/>
          </a:xfrm>
          <a:prstGeom prst="roundRect">
            <a:avLst>
              <a:gd name="adj" fmla="val 3959"/>
            </a:avLst>
          </a:prstGeom>
          <a:solidFill>
            <a:srgbClr val="FFFFFF"/>
          </a:solidFill>
          <a:ln w="9525">
            <a:solidFill>
              <a:srgbClr val="D1DC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42925" y="2811214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4134" y="2874020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42925" y="3325564"/>
            <a:ext cx="241597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2925" y="3584525"/>
            <a:ext cx="24159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protocol works across PostgreSQL, GitHub, Snyk, and any other platform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225850" y="2562671"/>
            <a:ext cx="2692450" cy="1616869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9525">
            <a:solidFill>
              <a:srgbClr val="D1DC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387775" y="2724596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538984" y="2787402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3387775" y="3238946"/>
            <a:ext cx="241597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87775" y="3497907"/>
            <a:ext cx="2415972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access with proper authentication ensures AI only sees what it should see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6070699" y="2649289"/>
            <a:ext cx="2692450" cy="1443633"/>
          </a:xfrm>
          <a:prstGeom prst="roundRect">
            <a:avLst>
              <a:gd name="adj" fmla="val 3959"/>
            </a:avLst>
          </a:prstGeom>
          <a:solidFill>
            <a:srgbClr val="FFFFFF"/>
          </a:solidFill>
          <a:ln w="9525">
            <a:solidFill>
              <a:srgbClr val="D1DC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232624" y="2811214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383834" y="2874020"/>
            <a:ext cx="1190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232624" y="3325564"/>
            <a:ext cx="241597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32624" y="3584525"/>
            <a:ext cx="24159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data sources without rebuilding your AI infrastructure from scratch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381000" y="4331940"/>
            <a:ext cx="8382000" cy="453330"/>
          </a:xfrm>
          <a:prstGeom prst="roundRect">
            <a:avLst>
              <a:gd name="adj" fmla="val 12607"/>
            </a:avLst>
          </a:prstGeom>
          <a:solidFill>
            <a:srgbClr val="1A4D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52450" y="4465290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MCP turns your AI from a standalone tool into an integrated member of your technology ecosystem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81000" y="4762500"/>
            <a:ext cx="854964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- Anthropic's open standard for AI-data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400050"/>
            <a:ext cx="0" cy="5715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628650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MCP Server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552575"/>
            <a:ext cx="2652332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1859459"/>
            <a:ext cx="528523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05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AI assistants directly to your PostgreSQL databases to query and extract insights in real-time.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526209"/>
            <a:ext cx="5181600" cy="1405682"/>
          </a:xfrm>
          <a:prstGeom prst="roundRect">
            <a:avLst>
              <a:gd name="adj" fmla="val 4066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678609"/>
            <a:ext cx="497433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Use Cases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2956620"/>
            <a:ext cx="4876800" cy="82287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in plain English and get instant answers from live data</a:t>
            </a:r>
            <a:endParaRPr lang="en-US" sz="975" dirty="0"/>
          </a:p>
          <a:p>
            <a:pPr algn="l" marL="95250" indent="-95250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custom reports without waiting for data analysts</a:t>
            </a:r>
            <a:endParaRPr lang="en-US" sz="975" dirty="0"/>
          </a:p>
          <a:p>
            <a:pPr algn="l" marL="95250" indent="-95250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trends and anomalies through natural language queries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4065240"/>
            <a:ext cx="5181600" cy="439936"/>
          </a:xfrm>
          <a:prstGeom prst="roundRect">
            <a:avLst>
              <a:gd name="adj" fmla="val 12991"/>
            </a:avLst>
          </a:prstGeom>
          <a:solidFill>
            <a:srgbClr val="FFF9E6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4198590"/>
            <a:ext cx="50131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Impact: Reduces data query time from hours to seconds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715000" y="1023193"/>
            <a:ext cx="3048000" cy="4011662"/>
          </a:xfrm>
          <a:prstGeom prst="roundRect">
            <a:avLst>
              <a:gd name="adj" fmla="val 2500"/>
            </a:avLst>
          </a:prstGeom>
          <a:solidFill>
            <a:srgbClr val="1A4D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05500" y="1213693"/>
            <a:ext cx="272034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05500" y="1571774"/>
            <a:ext cx="2667000" cy="758130"/>
          </a:xfrm>
          <a:prstGeom prst="roundRect">
            <a:avLst>
              <a:gd name="adj" fmla="val 5026"/>
            </a:avLst>
          </a:prstGeom>
          <a:solidFill>
            <a:srgbClr val="16A08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19788" y="1571774"/>
            <a:ext cx="0" cy="75813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48375" y="1686074"/>
            <a:ext cx="24580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Decisions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48375" y="1895624"/>
            <a:ext cx="24580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Executives get real-time insights without technical bottlenecks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05500" y="2463254"/>
            <a:ext cx="2667000" cy="758130"/>
          </a:xfrm>
          <a:prstGeom prst="roundRect">
            <a:avLst>
              <a:gd name="adj" fmla="val 5026"/>
            </a:avLst>
          </a:prstGeom>
          <a:solidFill>
            <a:srgbClr val="16A08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19788" y="2463254"/>
            <a:ext cx="0" cy="75813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48375" y="2577554"/>
            <a:ext cx="24580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48375" y="2787104"/>
            <a:ext cx="24580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analyst workload on routine queries by up to 70%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05500" y="3354735"/>
            <a:ext cx="2667000" cy="758130"/>
          </a:xfrm>
          <a:prstGeom prst="roundRect">
            <a:avLst>
              <a:gd name="adj" fmla="val 5026"/>
            </a:avLst>
          </a:prstGeom>
          <a:solidFill>
            <a:srgbClr val="16A08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919788" y="3354735"/>
            <a:ext cx="0" cy="75813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8375" y="3469035"/>
            <a:ext cx="24580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Democratization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48375" y="3678585"/>
            <a:ext cx="24580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teams access insights independently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05500" y="4246215"/>
            <a:ext cx="2667000" cy="598140"/>
          </a:xfrm>
          <a:prstGeom prst="roundRect">
            <a:avLst>
              <a:gd name="adj" fmla="val 6370"/>
            </a:avLst>
          </a:prstGeom>
          <a:solidFill>
            <a:srgbClr val="16A08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919788" y="4246215"/>
            <a:ext cx="0" cy="59814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8375" y="4360515"/>
            <a:ext cx="24580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48375" y="4570065"/>
            <a:ext cx="2458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queries logged for compliance and security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1000" y="4762500"/>
            <a:ext cx="854964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access ensures data safety while enabling powerful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400050"/>
            <a:ext cx="0" cy="5715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628650"/>
            <a:ext cx="5071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and Snyk MCP Servers</a:t>
            </a:r>
            <a:endParaRPr lang="en-US" sz="2700" dirty="0"/>
          </a:p>
        </p:txBody>
      </p:sp>
      <p:pic>
        <p:nvPicPr>
          <p:cNvPr id="4" name="Image 0" descr="/tmp/rasterized-gradient-7e80f7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434405"/>
            <a:ext cx="4114800" cy="26861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2450" y="1605855"/>
            <a:ext cx="1933385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2450" y="1855589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Repository Intelligence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52450" y="2129879"/>
            <a:ext cx="3771900" cy="800100"/>
          </a:xfrm>
          <a:prstGeom prst="roundRect">
            <a:avLst>
              <a:gd name="adj" fmla="val 476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" y="2244179"/>
            <a:ext cx="3614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666750" y="2444204"/>
            <a:ext cx="36141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accesses repositories, pull requests, and issues to understand your codebase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552450" y="3025229"/>
            <a:ext cx="384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52450" y="3244304"/>
            <a:ext cx="3771900" cy="704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developers understand codebases 60% faster</a:t>
            </a:r>
            <a:endParaRPr lang="en-US" sz="900" dirty="0"/>
          </a:p>
          <a:p>
            <a:pPr algn="l" marL="85725" indent="-85725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automation identifies potential issues</a:t>
            </a:r>
            <a:endParaRPr lang="en-US" sz="900" dirty="0"/>
          </a:p>
          <a:p>
            <a:pPr algn="l" marL="85725" indent="-85725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technical documentation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1000" y="4234904"/>
            <a:ext cx="4114800" cy="388590"/>
          </a:xfrm>
          <a:prstGeom prst="roundRect">
            <a:avLst>
              <a:gd name="adj" fmla="val 9805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95288" y="4234904"/>
            <a:ext cx="0" cy="38859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875" y="4349204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15-20 hours saved per developer monthly on code reviews</a:t>
            </a:r>
            <a:endParaRPr lang="en-US" sz="900" dirty="0"/>
          </a:p>
        </p:txBody>
      </p:sp>
      <p:pic>
        <p:nvPicPr>
          <p:cNvPr id="15" name="Image 1" descr="/tmp/rasterized-gradient-ff2152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434405"/>
            <a:ext cx="4114800" cy="268619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19650" y="1605855"/>
            <a:ext cx="1933385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819650" y="1855589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Compliance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19650" y="2129879"/>
            <a:ext cx="3771900" cy="800100"/>
          </a:xfrm>
          <a:prstGeom prst="roundRect">
            <a:avLst>
              <a:gd name="adj" fmla="val 476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933950" y="2244179"/>
            <a:ext cx="3614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975" dirty="0"/>
          </a:p>
        </p:txBody>
      </p:sp>
      <p:sp>
        <p:nvSpPr>
          <p:cNvPr id="20" name="Text 16"/>
          <p:cNvSpPr/>
          <p:nvPr/>
        </p:nvSpPr>
        <p:spPr>
          <a:xfrm>
            <a:off x="4933950" y="2444204"/>
            <a:ext cx="36141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code for vulnerabilities and security risks across your entire stack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4819650" y="3025229"/>
            <a:ext cx="384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4819650" y="3244304"/>
            <a:ext cx="3771900" cy="704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alerts on critical vulnerabilities instantly</a:t>
            </a:r>
            <a:endParaRPr lang="en-US" sz="900" dirty="0"/>
          </a:p>
          <a:p>
            <a:pPr algn="l" marL="85725" indent="-85725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issues before they reach production</a:t>
            </a:r>
            <a:endParaRPr lang="en-US" sz="900" dirty="0"/>
          </a:p>
          <a:p>
            <a:pPr algn="l" marL="85725" indent="-85725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security audit trails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648200" y="4234904"/>
            <a:ext cx="4114800" cy="388590"/>
          </a:xfrm>
          <a:prstGeom prst="roundRect">
            <a:avLst>
              <a:gd name="adj" fmla="val 9805"/>
            </a:avLst>
          </a:prstGeom>
          <a:solidFill>
            <a:srgbClr val="FF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4662488" y="4234904"/>
            <a:ext cx="0" cy="388590"/>
          </a:xfrm>
          <a:prstGeom prst="line">
            <a:avLst/>
          </a:prstGeom>
          <a:noFill/>
          <a:ln w="28575">
            <a:solidFill>
              <a:srgbClr val="E74C3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91075" y="4349204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7B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Mitigation: Average data breach costs $4.45M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81000" y="4762500"/>
            <a:ext cx="854964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integrations provide read-only access with full audit logging for security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438150"/>
            <a:ext cx="0" cy="5715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666750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159371"/>
            <a:ext cx="2730550" cy="1363712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083171"/>
            <a:ext cx="560040" cy="171450"/>
          </a:xfrm>
          <a:prstGeom prst="roundRect">
            <a:avLst>
              <a:gd name="adj" fmla="val 5555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102221"/>
            <a:ext cx="415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3400" y="1368921"/>
            <a:ext cx="24742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125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33400" y="1587996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33400" y="1791742"/>
            <a:ext cx="2425750" cy="57894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70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data sources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security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use cases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6800" y="1159371"/>
            <a:ext cx="2730550" cy="1363712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59200" y="1083171"/>
            <a:ext cx="560040" cy="171450"/>
          </a:xfrm>
          <a:prstGeom prst="roundRect">
            <a:avLst>
              <a:gd name="adj" fmla="val 5555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35400" y="1102221"/>
            <a:ext cx="415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59200" y="1368921"/>
            <a:ext cx="24742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125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359200" y="1587996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3-6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359200" y="1791742"/>
            <a:ext cx="2425750" cy="57894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70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PostgreSQL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 user group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gains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2599" y="1159371"/>
            <a:ext cx="2730550" cy="1363712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84999" y="1083171"/>
            <a:ext cx="560040" cy="171450"/>
          </a:xfrm>
          <a:prstGeom prst="roundRect">
            <a:avLst>
              <a:gd name="adj" fmla="val 5555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61199" y="1102221"/>
            <a:ext cx="415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84999" y="1368921"/>
            <a:ext cx="24742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125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184999" y="1587996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7-12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184999" y="1791742"/>
            <a:ext cx="2425750" cy="57894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70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GitHub/Snyk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Company-wide rollout</a:t>
            </a:r>
            <a:endParaRPr lang="en-US" sz="900" dirty="0"/>
          </a:p>
          <a:p>
            <a:pPr algn="l" marL="76200" indent="-76200">
              <a:lnSpc>
                <a:spcPts val="1170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governance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000" y="3052614"/>
            <a:ext cx="6038850" cy="1411486"/>
          </a:xfrm>
          <a:prstGeom prst="roundRect">
            <a:avLst>
              <a:gd name="adj" fmla="val 4049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4350" y="3185964"/>
            <a:ext cx="58875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Success Factors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14350" y="3433614"/>
            <a:ext cx="5772150" cy="89713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60"/>
              </a:lnSpc>
              <a:spcAft>
                <a:spcPts val="375"/>
              </a:spcAft>
              <a:buSzPct val="100000"/>
              <a:buChar char="•"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Sponsorship</a:t>
            </a:r>
            <a:pPr algn="l" indent="0" marL="0">
              <a:lnSpc>
                <a:spcPts val="1260"/>
              </a:lnSpc>
              <a:spcAft>
                <a:spcPts val="375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resources</a:t>
            </a:r>
            <a:endParaRPr lang="en-US" sz="900" dirty="0"/>
          </a:p>
          <a:p>
            <a:pPr algn="l" marL="76200" indent="-76200">
              <a:lnSpc>
                <a:spcPts val="1260"/>
              </a:lnSpc>
              <a:spcAft>
                <a:spcPts val="375"/>
              </a:spcAft>
              <a:buSzPct val="100000"/>
              <a:buChar char="•"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Partnership</a:t>
            </a:r>
            <a:pPr algn="l" indent="0" marL="0">
              <a:lnSpc>
                <a:spcPts val="1260"/>
              </a:lnSpc>
              <a:spcAft>
                <a:spcPts val="375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day one</a:t>
            </a:r>
            <a:endParaRPr lang="en-US" sz="900" dirty="0"/>
          </a:p>
          <a:p>
            <a:pPr algn="l" marL="76200" indent="-76200">
              <a:lnSpc>
                <a:spcPts val="1260"/>
              </a:lnSpc>
              <a:spcAft>
                <a:spcPts val="375"/>
              </a:spcAft>
              <a:buSzPct val="100000"/>
              <a:buChar char="•"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Training</a:t>
            </a:r>
            <a:pPr algn="l" indent="0" marL="0">
              <a:lnSpc>
                <a:spcPts val="1260"/>
              </a:lnSpc>
              <a:spcAft>
                <a:spcPts val="375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adoption</a:t>
            </a:r>
            <a:endParaRPr lang="en-US" sz="900" dirty="0"/>
          </a:p>
          <a:p>
            <a:pPr algn="l" marL="76200" indent="-76200">
              <a:lnSpc>
                <a:spcPts val="1260"/>
              </a:lnSpc>
              <a:spcAft>
                <a:spcPts val="375"/>
              </a:spcAft>
              <a:buSzPct val="100000"/>
              <a:buChar char="•"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Tracking</a:t>
            </a:r>
            <a:pPr algn="l" indent="0" marL="0">
              <a:lnSpc>
                <a:spcPts val="1260"/>
              </a:lnSpc>
              <a:spcAft>
                <a:spcPts val="375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ROI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72250" y="2637383"/>
            <a:ext cx="2190750" cy="2242096"/>
          </a:xfrm>
          <a:prstGeom prst="roundRect">
            <a:avLst>
              <a:gd name="adj" fmla="val 3478"/>
            </a:avLst>
          </a:prstGeom>
          <a:solidFill>
            <a:srgbClr val="1A4D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24650" y="2789783"/>
            <a:ext cx="19236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Overview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6724650" y="3056483"/>
            <a:ext cx="19236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Time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24650" y="3245048"/>
            <a:ext cx="19236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weeks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724650" y="3416498"/>
            <a:ext cx="1923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data source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24650" y="3645098"/>
            <a:ext cx="19236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Resources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24650" y="3833664"/>
            <a:ext cx="19236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FTE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724650" y="4005114"/>
            <a:ext cx="1923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implementation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724650" y="4233714"/>
            <a:ext cx="19236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24650" y="4422279"/>
            <a:ext cx="19236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months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24650" y="4593729"/>
            <a:ext cx="1923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1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ROI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81000" y="4762500"/>
            <a:ext cx="854964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prove value, then scale across the organization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b3a1a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9075" y="400050"/>
            <a:ext cx="0" cy="5715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00050" y="628650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81000" y="1408658"/>
            <a:ext cx="3351848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MCP Matters for Your Business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1000" y="1886992"/>
            <a:ext cx="4991100" cy="885825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00050" y="1886992"/>
            <a:ext cx="0" cy="885825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2450" y="2020342"/>
            <a:ext cx="4780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Decision Speed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552450" y="2239417"/>
            <a:ext cx="47800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hours of waiting to seconds of insight - MCP eliminates data access bottlenecks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81000" y="2925217"/>
            <a:ext cx="4991100" cy="885825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00050" y="2925217"/>
            <a:ext cx="0" cy="885825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2450" y="3058567"/>
            <a:ext cx="4780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and Compliant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552450" y="3277642"/>
            <a:ext cx="47800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security with full audit trails and controlled access permissions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1000" y="3963442"/>
            <a:ext cx="4991100" cy="685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00050" y="3963442"/>
            <a:ext cx="0" cy="6858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2450" y="4096792"/>
            <a:ext cx="4780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Future-Proof Investment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552450" y="4315867"/>
            <a:ext cx="4780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 that works with any AI platform and scales with your needs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524500" y="1139726"/>
            <a:ext cx="3238500" cy="3778448"/>
          </a:xfrm>
          <a:prstGeom prst="roundRect">
            <a:avLst>
              <a:gd name="adj" fmla="val 3529"/>
            </a:avLst>
          </a:prstGeom>
          <a:solidFill>
            <a:srgbClr val="1A4D7A"/>
          </a:solidFill>
          <a:ln/>
          <a:effectLst>
            <a:outerShdw sx="100000" sy="100000" kx="0" ky="0" algn="bl" rotWithShape="0" blurRad="114300" dist="381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753100" y="1368326"/>
            <a:ext cx="28369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3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Started?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753100" y="1768376"/>
            <a:ext cx="2781300" cy="1766888"/>
          </a:xfrm>
          <a:prstGeom prst="roundRect">
            <a:avLst>
              <a:gd name="adj" fmla="val 3235"/>
            </a:avLst>
          </a:prstGeom>
          <a:solidFill>
            <a:srgbClr val="16A08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905500" y="1920776"/>
            <a:ext cx="2526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05500" y="2168426"/>
            <a:ext cx="2476500" cy="1214438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463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discovery workshop with IT and Security</a:t>
            </a:r>
            <a:endParaRPr lang="en-US" sz="975" dirty="0"/>
          </a:p>
          <a:p>
            <a:pPr algn="l" marL="85725" indent="-85725">
              <a:lnSpc>
                <a:spcPts val="1463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3-5 high-value use cases</a:t>
            </a:r>
            <a:endParaRPr lang="en-US" sz="975" dirty="0"/>
          </a:p>
          <a:p>
            <a:pPr algn="l" marL="85725" indent="-85725">
              <a:lnSpc>
                <a:spcPts val="1463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pilot team (10-20 users)</a:t>
            </a:r>
            <a:endParaRPr lang="en-US" sz="975" dirty="0"/>
          </a:p>
          <a:p>
            <a:pPr algn="l" marL="85725" indent="-85725">
              <a:lnSpc>
                <a:spcPts val="1463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success metrics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5753100" y="3687663"/>
            <a:ext cx="2781300" cy="1001911"/>
          </a:xfrm>
          <a:prstGeom prst="roundRect">
            <a:avLst>
              <a:gd name="adj" fmla="val 5704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861304" y="3821013"/>
            <a:ext cx="2564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ROI Timeline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5861304" y="4078188"/>
            <a:ext cx="25648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5861304" y="4382988"/>
            <a:ext cx="25648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to positive ROI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381000" y="4762500"/>
            <a:ext cx="854964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Contact your AI transformation team to explore MCP integration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Servers: Enterprise Integration Guide</dc:title>
  <dc:subject>Model Context Protocol for Business Executives</dc:subject>
  <dc:creator>MCP Integration Team</dc:creator>
  <cp:lastModifiedBy>MCP Integration Team</cp:lastModifiedBy>
  <cp:revision>1</cp:revision>
  <dcterms:created xsi:type="dcterms:W3CDTF">2026-01-07T05:23:40Z</dcterms:created>
  <dcterms:modified xsi:type="dcterms:W3CDTF">2026-01-07T05:23:40Z</dcterms:modified>
</cp:coreProperties>
</file>